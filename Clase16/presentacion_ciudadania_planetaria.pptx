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2 minutos. Abrir preguntando quién usó hoy una app o un sitio hecho fuera de Costa Rica. Leer los contenidos para que el grupo sepa la ruta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Encuadre. 4 minutos. Leer el resultado y los tres indicadores tal como vienen en el programa y explicar el orden: entender, ubicar, actuar.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Concepto. 10 minutos. Aclarar el error más común: ser ciudadano planetario no es dejar de ser tico. Recorrer los círculos de adentro hacia afuera. La frase 'pensar global, actuar local' se usa en la Práctica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Importancia. 8 minutos. Trabajar el ejemplo del río y el Golfo de Nicoya: conecta lo local con lo mundial en un solo paso. Pedir un producto que usen hoy y que no se haya hecho en el país.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Gobernanza. 12 minutos. Ubicar decisiones reales en cada nivel: arreglar una calle, cambiar el programa de estudios, un acuerdo sobre el clima. Base de la Parte A de la Práctica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Organismos. 8 minutos. Detenerse en UIT e ICANN porque conectan con la especialidad: si cada país inventara su sistema de dominios, la web no funcionaría. Estos nombres se usan en la Práctica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Derechos. 12 minutos. Ejemplo cercano: un formulario que pide cédula y dirección sin necesitarlas. Los tres pasos de abajo se usan en la Práctica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Responsabilidades. 8 minutos. Trabajar el caso de la cadena de WhatsApp: cómo se verifica una fuente antes de compartir. Estas cinco se usan en la Práctica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Acciones. 10 minutos. Preguntar cuál se podría hacer en el colegio este trimestre. Los cuatro temas de la derecha son los que se investigan en la Parte A de la Práctica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Desarrollo web. 12 minutos. Abrir un sitio en el proyector y revisar el contraste del texto y cuántos datos pide el formulario. Estas seis se usan en la Práctica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· Educación. 8 minutos. Dejar fijas las tres dimensiones y pedir un ejemplo del grupo para cada una. Se usan en la Parte A de la Práctica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· Relación entre sistemas. 10 minutos. Recorrer la cadena en voz alta y pedir que el grupo arme otra con el tema de la educación. Es el Problema 2 de la Práctica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6 minutos. Recorrer las tres ideas y luego las cuatro preguntas; pedir que cada estudiante responda mentalmente la que le parezca más difícil. Las prácticas son individuales y sin puntaje.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1325880"/>
            <a:ext cx="4114800" cy="41148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4A2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82880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5B35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233172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6E42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12580" y="281178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55480" y="3154680"/>
            <a:ext cx="457200" cy="457200"/>
          </a:xfrm>
          <a:prstGeom prst="ellipse">
            <a:avLst/>
          </a:prstGeom>
          <a:solidFill>
            <a:srgbClr val="F2A03F"/>
          </a:solidFill>
          <a:ln w="12700">
            <a:solidFill>
              <a:srgbClr val="F2A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I N I S T E R I O   D E   E D U C A C I Ó N   P Ú B L I C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Ciudadanía planetaria</a:t>
            </a:r>
            <a:endParaRPr lang="en-US" sz="4400" dirty="0"/>
          </a:p>
          <a:p>
            <a:pPr indent="0" marL="0">
              <a:lnSpc>
                <a:spcPts val="53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gobernanza mundial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las acciones que fortalecen las relaciones humanas en la estructura de ciudadanos planetarios dentro de los sistemas de gobernanza local, nacional y mundial.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5029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C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Contenidos: concepto de ciudadanía planetaria   ·   importancia   ·   estructura de gobernanza   ·   derechos internacionales   ·   responsabilidades mundiales   ·   acciones planetarias   ·   educación para la ciudadanía mundial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Undécimo año   ·   Especialidad Desarrollo Web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C I A   D Ó N D E   V A M O 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las acciones que fortalezcan las relaciones humanas en la estructura de ciudadanos planetarios en los sistemas de gobernanza. Los tres indicadores de logro marcan el camino: primero se entiende el concepto, después se ubica quién decide qué y por último se pasa a la acción.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514600" y="3520440"/>
            <a:ext cx="7132320" cy="0"/>
          </a:xfrm>
          <a:prstGeom prst="line">
            <a:avLst/>
          </a:prstGeom>
          <a:noFill/>
          <a:ln w="25400">
            <a:solidFill>
              <a:srgbClr val="D9D0E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20240" y="292608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926080"/>
            <a:ext cx="1188720" cy="118872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7C3AED"/>
            </a:solidFill>
            <a:prstDash val="solid"/>
          </a:ln>
        </p:spPr>
      </p:sp>
      <p:pic>
        <p:nvPicPr>
          <p:cNvPr id="8" name="Image 0" descr="/home/claude/gen/icons/FiGlobe_7C3A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3236976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97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469087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la ciudadanía planetaria y por qué convivir con otras culturas no borra la identidad propia.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0" y="292608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0" y="2926080"/>
            <a:ext cx="1188720" cy="118872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653F"/>
            </a:solidFill>
            <a:prstDash val="solid"/>
          </a:ln>
        </p:spPr>
      </p:sp>
      <p:pic>
        <p:nvPicPr>
          <p:cNvPr id="13" name="Image 1" descr="/home/claude/gen/icons/FiUsers_F265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3236976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4297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80560" y="469087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funcionan los tres sistemas de gobernanza: el local, el nacional y el mundial.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052560" y="292608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052560" y="2926080"/>
            <a:ext cx="1188720" cy="118872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2A594"/>
            </a:solidFill>
            <a:prstDash val="solid"/>
          </a:ln>
        </p:spPr>
      </p:sp>
      <p:pic>
        <p:nvPicPr>
          <p:cNvPr id="18" name="Image 2" descr="/home/claude/gen/icons/FiRefreshCw_12A59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3236976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4297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046720" y="469087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concretas propias de un ciudadano planetario, también desde el desarrollo web.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68680" y="594360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prácticas son formativas, individuales y sin puntaje: la primera analiza casos y la segunda es un taller de investigación con resolución de problemas.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C E P T 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ciudadanía planetaria?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reconocerse parte de una sola comunidad humana que comparte el mismo planeta y actuar en consecuencia. No es un documento ni un trámite: es una forma de pensar que se nota en decisiones diarias.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005840" y="2377440"/>
            <a:ext cx="4114800" cy="4114800"/>
          </a:xfrm>
          <a:prstGeom prst="ellipse">
            <a:avLst/>
          </a:prstGeom>
          <a:solidFill>
            <a:srgbClr val="F0E9FC"/>
          </a:solidFill>
          <a:ln w="12700">
            <a:solidFill>
              <a:srgbClr val="F0E9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926080"/>
            <a:ext cx="3017520" cy="3017520"/>
          </a:xfrm>
          <a:prstGeom prst="ellipse">
            <a:avLst/>
          </a:prstGeom>
          <a:solidFill>
            <a:srgbClr val="E1D3F8"/>
          </a:solidFill>
          <a:ln w="12700">
            <a:solidFill>
              <a:srgbClr val="E1D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3474720"/>
            <a:ext cx="1920240" cy="1920240"/>
          </a:xfrm>
          <a:prstGeom prst="ellipse">
            <a:avLst/>
          </a:prstGeom>
          <a:solidFill>
            <a:srgbClr val="C9AFF2"/>
          </a:solidFill>
          <a:ln w="12700">
            <a:solidFill>
              <a:srgbClr val="C9A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15184" y="3986784"/>
            <a:ext cx="896112" cy="8961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5184" y="4233672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57400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comunidad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057400" y="2679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país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34086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2331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Pertenencia global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93408" y="264261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parte de la humanidad, más allá de la frontera del país donde se nació.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274320" cy="274320"/>
          </a:xfrm>
          <a:prstGeom prst="ellipse">
            <a:avLst/>
          </a:prstGeom>
          <a:solidFill>
            <a:srgbClr val="F2653F"/>
          </a:solidFill>
          <a:ln w="12700">
            <a:solidFill>
              <a:srgbClr val="F265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3191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sustituye la nacionalidad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93408" y="3502152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 costarricense y ciudadano del mundo al mismo tiempo: una identidad no borra la otra.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059936"/>
            <a:ext cx="274320" cy="27432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4050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compartidos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93408" y="436168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clima, las enfermedades y los delitos informáticos no se detienen en la frontera.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491947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910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global, actuar local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93408" y="522122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acción empieza en el aula, el barrio y el cantón, que es donde sí se puede cambiar algo hoy.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5779008"/>
            <a:ext cx="274320" cy="274320"/>
          </a:xfrm>
          <a:prstGeom prst="ellipse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57698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activa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693408" y="608076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opinar: la ciudadanía se ejerce participando y haciendo algo concreto.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 P O R T A N C I 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importante?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los retos de hoy son compartidos: ninguno se detiene en la frontera y ninguno se resuelve con una sola ley nacional. Estos cuatro motivos explican por qué la ciudadanía planetaria dejó de ser un tema lejano.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417320" y="2240280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24028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2A594"/>
            </a:solidFill>
            <a:prstDash val="solid"/>
          </a:ln>
        </p:spPr>
      </p:sp>
      <p:pic>
        <p:nvPicPr>
          <p:cNvPr id="7" name="Image 0" descr="/home/claude/gen/icons/FaLeaf_12A59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257860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ambiente es uno solo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4389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daño hecho en un lugar aparece en otro. El plástico tirado en un río de Esparza termina en el Golfo de Nicoya.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114800" y="2240280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0" y="224028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653F"/>
            </a:solidFill>
            <a:prstDash val="solid"/>
          </a:ln>
        </p:spPr>
      </p:sp>
      <p:pic>
        <p:nvPicPr>
          <p:cNvPr id="12" name="Image 1" descr="/home/claude/gen/icons/FiUsers_F265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578608"/>
            <a:ext cx="603504" cy="603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Convivimos con la diferencia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566160" y="4389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Estudiamos y trabajamos con personas de otros países, idiomas y culturas, muchas veces por medio de una pantalla.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812280" y="2240280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12280" y="224028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A82E"/>
            </a:solidFill>
            <a:prstDash val="solid"/>
          </a:ln>
        </p:spPr>
      </p:sp>
      <p:pic>
        <p:nvPicPr>
          <p:cNvPr id="17" name="Image 2" descr="/home/claude/gen/icons/FiTrendingUp_E0A82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257860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economía está conectada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263640" y="4389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producimos depende de cadenas que cruzan el mundo: el café de Costa Rica se vende en Alemania y en Japón.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9509760" y="2240280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09760" y="224028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22" name="Image 3" descr="/home/claude/gen/icons/FiWifi_2563E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2578608"/>
            <a:ext cx="603504" cy="6035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es mundial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961120" y="4389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funciona porque los países acordaron reglas y estándares comunes que todos respetan.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68680" y="598932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ciudadanía planetaria cada país intenta salvarse solo, y en un problema compartido eso siempre sale más caro para todos.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O B E R N A N Z 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 gobernanza mundial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es el conjunto de reglas, instituciones y acuerdos con los que se toman decisiones colectivas y se hace que se cumplan. No es solo el gobierno: también participan organizaciones, empresas y comunidades. Funciona en tres niveles que se necesitan entre sí.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3246120" y="2240280"/>
            <a:ext cx="2377440" cy="960120"/>
          </a:xfrm>
          <a:prstGeom prst="trapezoid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22402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Mundial</a:t>
            </a:r>
            <a:endParaRPr lang="en-US" sz="1900" dirty="0"/>
          </a:p>
        </p:txBody>
      </p:sp>
      <p:pic>
        <p:nvPicPr>
          <p:cNvPr id="7" name="Image 0" descr="/home/claude/gen/icons/FiGlobe_7C3A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36829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18120" y="22219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ONU y sus organismos especializados.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18120" y="251460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países acuerdan metas comunes sobre clima, salud o educación. Proponen: no dan órdenes.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606040" y="3291840"/>
            <a:ext cx="3657600" cy="960120"/>
          </a:xfrm>
          <a:prstGeom prst="trapezoid">
            <a:avLst/>
          </a:prstGeom>
          <a:solidFill>
            <a:srgbClr val="2563EB">
              <a:alpha val="8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06040" y="32918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1900" dirty="0"/>
          </a:p>
        </p:txBody>
      </p:sp>
      <p:pic>
        <p:nvPicPr>
          <p:cNvPr id="12" name="Image 1" descr="/home/claude/gen/icons/FiFlag_2563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419856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32735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Asamblea Legislativa, Presidencia y ministerios.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818120" y="356616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leyes y políticas para todo el país. El MEP, por ejemplo, define el programa de estudios.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965960" y="4343400"/>
            <a:ext cx="4937760" cy="960120"/>
          </a:xfrm>
          <a:prstGeom prst="trapezoid">
            <a:avLst/>
          </a:prstGeom>
          <a:solidFill>
            <a:srgbClr val="12A594">
              <a:alpha val="88000"/>
            </a:srgbClr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965960" y="43434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900" dirty="0"/>
          </a:p>
        </p:txBody>
      </p:sp>
      <p:pic>
        <p:nvPicPr>
          <p:cNvPr id="17" name="Image 2" descr="/home/claude/gen/icons/FiMapPin_12A59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471416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18120" y="43251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Municipalidad, concejo municipal y distrito.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818120" y="461772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lo más cercano a la vida diaria: la Municipalidad de Esparza fija el día de recolección del reciclaje.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68680" y="562356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manda solo: un organismo mundial propone, el país firma, la Asamblea Legislativa aprueba y la municipalidad ejecuta. La persona participa en los tres niveles: vota, denuncia y propone.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O B E R N A N Z A   M U N D I A 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quién en el nivel mundial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mundial no es una sola oficina: es una red de organismos, cada uno especializado en un tema. Dos de ellos deciden directamente cómo funcionan internet y los dominios web.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440180" y="2537460"/>
            <a:ext cx="1783080" cy="1783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a casi todos los países del mundo. Aprobó los Objetivos de Desarrollo Sostenible: 17 metas al 2030.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0" y="2331720"/>
            <a:ext cx="0" cy="288036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46120" y="3429000"/>
            <a:ext cx="822960" cy="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14800" y="2578608"/>
            <a:ext cx="457200" cy="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26280" y="216712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167128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653F"/>
            </a:solidFill>
            <a:prstDash val="solid"/>
          </a:ln>
        </p:spPr>
      </p:sp>
      <p:pic>
        <p:nvPicPr>
          <p:cNvPr id="13" name="Image 0" descr="/home/claude/gen/icons/FiBookOpen_F265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377440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486400" y="28163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Educación, ciencia y cultura. Impulsa la educación para la ciudadanía mundial en los colegios.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55280" y="216712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2167128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336C"/>
            </a:solidFill>
            <a:prstDash val="solid"/>
          </a:ln>
        </p:spPr>
      </p:sp>
      <p:pic>
        <p:nvPicPr>
          <p:cNvPr id="18" name="Image 1" descr="/home/claude/gen/icons/FiActivity_D6336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377440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1540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915400" y="28163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Salud. Coordina la respuesta de los países ante enfermedades que se expanden.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114800" y="4270248"/>
            <a:ext cx="457200" cy="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4526280" y="385876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26280" y="3858768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24" name="Image 2" descr="/home/claude/gen/icons/FiRadio_2563E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4069080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48640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5486400" y="450799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Telecomunicaciones. Acuerda estándares para que las redes de todos los países se entiendan.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955280" y="3858768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955280" y="3858768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2A594"/>
            </a:solidFill>
            <a:prstDash val="solid"/>
          </a:ln>
        </p:spPr>
      </p:sp>
      <p:pic>
        <p:nvPicPr>
          <p:cNvPr id="29" name="Image 3" descr="/home/claude/gen/icons/FiLink_12A59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4069080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91540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ICANN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8915400" y="450799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Internet. Administra los nombres de dominio: de ahí dependen el .cr y el .com.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68680" y="612648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publicás un sitio con dominio .cr usás, sin darte cuenta, un sistema de gobernanza mundial sostenido por acuerdos entre países.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 R E C H O 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internacionales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acuerdos entre países sobre lo mínimo que se le debe garantizar a toda persona. Se firman afuera pero se cumplen adentro: en el aula, en la clínica y en el sistema que programás.</a:t>
            </a:r>
            <a:endParaRPr lang="en-US" sz="1550" dirty="0"/>
          </a:p>
        </p:txBody>
      </p:sp>
      <p:pic>
        <p:nvPicPr>
          <p:cNvPr id="5" name="Image 0" descr="/home/claude/gen/icons/FiFileText_7C3A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97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Universal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035808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 en 1948, reúne los derechos humanos básicos de toda persona. Es la referencia que citan casi todos los tratados posteriores.</a:t>
            </a:r>
            <a:endParaRPr lang="en-US" sz="1350" dirty="0"/>
          </a:p>
        </p:txBody>
      </p:sp>
      <p:pic>
        <p:nvPicPr>
          <p:cNvPr id="8" name="Image 1" descr="/home/claude/gen/icons/FiBookOpen_E0A8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1488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0560" y="2697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a la educación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480560" y="3035808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persona tiene derecho a estudiar, sin importar su origen o condición. En Costa Rica la educación pública es gratuita y obligatoria.</a:t>
            </a:r>
            <a:endParaRPr lang="en-US" sz="1350" dirty="0"/>
          </a:p>
        </p:txBody>
      </p:sp>
      <p:pic>
        <p:nvPicPr>
          <p:cNvPr id="11" name="Image 2" descr="/home/claude/gen/icons/FiLock_12A59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1488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2697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y protección de datos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092440" y="3035808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personales son de la persona, no de quien los recoge. Un formulario no debería pedir la cédula si no la necesita.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68680" y="443484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Ó M O   L L E G A   U N   D E R E C H O   I N T E R N A C I O N A L   H A S T A   E L   A U L A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68680" y="4910328"/>
            <a:ext cx="694944" cy="6949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68680" y="505663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709928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país firma el tratado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09928" y="52669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Poder Ejecutivo lo negocia y lo firma.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160520" y="5257800"/>
            <a:ext cx="274320" cy="0"/>
          </a:xfrm>
          <a:prstGeom prst="line">
            <a:avLst/>
          </a:prstGeom>
          <a:noFill/>
          <a:ln w="25400">
            <a:solidFill>
              <a:srgbClr val="B7A9D8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526280" y="4910328"/>
            <a:ext cx="694944" cy="6949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26280" y="505663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5367528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Asamblea Legislativa lo aprueba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367528" y="52669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adquiere fuerza legal en el país.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818120" y="5257800"/>
            <a:ext cx="274320" cy="0"/>
          </a:xfrm>
          <a:prstGeom prst="line">
            <a:avLst/>
          </a:prstGeom>
          <a:noFill/>
          <a:ln w="25400">
            <a:solidFill>
              <a:srgbClr val="B7A9D8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8183880" y="4910328"/>
            <a:ext cx="694944" cy="69494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183880" y="505663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9025128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en instituciones y sistemas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9025128" y="52669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tratado aprobado pesa más que una ley común.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68680" y="608076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derecho internacional no se queda en el papel: baja hasta el código. Si tu formulario pide datos de más o los deja sin proteger, ahí se está incumpliendo.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S P O N S A B I L I D A D E 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mundiales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derechos compartidos, hay responsabilidades compartidas. Le corresponden a cualquier persona y varias se ejercen hoy desde una computadora o un celular.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252728" y="235458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35458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7C3AED"/>
            </a:solidFill>
            <a:prstDash val="solid"/>
          </a:ln>
        </p:spPr>
      </p:sp>
      <p:pic>
        <p:nvPicPr>
          <p:cNvPr id="7" name="Image 0" descr="/home/claude/gen/icons/FaLeaf_7C3A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52" y="2660904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03320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el ambiente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389120"/>
            <a:ext cx="1911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con medida el agua, la energía y los recursos que no se recuperan.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92424" y="235458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92424" y="235458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653F"/>
            </a:solidFill>
            <a:prstDash val="solid"/>
          </a:ln>
        </p:spPr>
      </p:sp>
      <p:pic>
        <p:nvPicPr>
          <p:cNvPr id="12" name="Image 1" descr="/home/claude/gen/icons/FiShoppingBag_F265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748" y="2660904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08376" y="3703320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responsable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008376" y="4389120"/>
            <a:ext cx="1911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Preguntarse de dónde viene y cómo se produjo lo que se compra.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532120" y="235458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32120" y="235458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2A594"/>
            </a:solidFill>
            <a:prstDash val="solid"/>
          </a:ln>
        </p:spPr>
      </p:sp>
      <p:pic>
        <p:nvPicPr>
          <p:cNvPr id="17" name="Image 2" descr="/home/claude/gen/icons/FiMessageCircle_12A59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2660904"/>
            <a:ext cx="530352" cy="5303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8072" y="3703320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Convivencia pacífica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148072" y="4389120"/>
            <a:ext cx="1911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los conflictos con diálogo y sin discriminar a nadie.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671816" y="235458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71816" y="235458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22" name="Image 3" descr="/home/claude/gen/icons/FiCheckCircle_2563E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140" y="2660904"/>
            <a:ext cx="530352" cy="5303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87768" y="3703320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veraz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287768" y="4389120"/>
            <a:ext cx="1911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antes de compartir: una noticia falsa hace daño real.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811512" y="235458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811512" y="235458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336C"/>
            </a:solidFill>
            <a:prstDash val="solid"/>
          </a:ln>
        </p:spPr>
      </p:sp>
      <p:pic>
        <p:nvPicPr>
          <p:cNvPr id="27" name="Image 4" descr="/home/claude/gen/icons/FiShield_D6336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7836" y="2660904"/>
            <a:ext cx="530352" cy="5303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27464" y="3703320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ético de la tecnología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427464" y="4389120"/>
            <a:ext cx="1911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los datos ajenos y no usar la tecnología para dañar.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responsabilidad mundial se vuelve pequeña y concreta al llegar a la vida diaria: un equipo apagado, un dato protegido, un mensaje que no se reenvía.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C I O N E 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planetarias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que una persona o un grupo realiza pensando en el bien común del planeta. Empiezan en lo cercano y se suman a un esfuerzo mundial; lo que las hace valiosas no es el tamaño sino la constancia.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188720" y="2880360"/>
            <a:ext cx="2194560" cy="2194560"/>
          </a:xfrm>
          <a:prstGeom prst="ellipse">
            <a:avLst/>
          </a:prstGeom>
          <a:solidFill>
            <a:srgbClr val="F0E9FC"/>
          </a:solidFill>
          <a:ln w="12700">
            <a:solidFill>
              <a:srgbClr val="F0E9FC"/>
            </a:solidFill>
            <a:prstDash val="solid"/>
          </a:ln>
        </p:spPr>
      </p:sp>
      <p:pic>
        <p:nvPicPr>
          <p:cNvPr id="6" name="Image 0" descr="/home/claude/gen/icons/FiTarget_7C3A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312724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051560" y="43159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5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Desarrollo Sostenible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5212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acordadas en la ONU para cumplirse al año 2030: fin de la pobreza, educación de calidad y acción por el clima, entre otras.</a:t>
            </a:r>
            <a:endParaRPr lang="en-US" sz="1300" dirty="0"/>
          </a:p>
        </p:txBody>
      </p:sp>
      <p:pic>
        <p:nvPicPr>
          <p:cNvPr id="10" name="Image 1" descr="/home/claude/gen/icons/FiSun_E0A8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423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por el clima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17720" y="32644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Ahorrar energía y agua, sembrar árboles y proteger las microcuencas de los ríos del cantón.</a:t>
            </a:r>
            <a:endParaRPr lang="en-US" sz="1350" dirty="0"/>
          </a:p>
        </p:txBody>
      </p:sp>
      <p:pic>
        <p:nvPicPr>
          <p:cNvPr id="13" name="Image 2" descr="/home/claude/gen/icons/FiDroplet_2563E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423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ríos y playas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046720" y="32644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Voluntariado organizado desde el colegio o la comunidad; hecho cada mes se vuelve política del cantón.</a:t>
            </a:r>
            <a:endParaRPr lang="en-US" sz="1350" dirty="0"/>
          </a:p>
        </p:txBody>
      </p:sp>
      <p:pic>
        <p:nvPicPr>
          <p:cNvPr id="16" name="Image 3" descr="/home/claude/gen/icons/FiSmartphone_D6336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2519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17720" y="4754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Reciclaje electrónico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617720" y="50932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aparatos viejos llevan materiales que contaminan si se botan con la basura común.</a:t>
            </a:r>
            <a:endParaRPr lang="en-US" sz="1350" dirty="0"/>
          </a:p>
        </p:txBody>
      </p:sp>
      <p:pic>
        <p:nvPicPr>
          <p:cNvPr id="19" name="Image 4" descr="/home/claude/gen/icons/FiRefreshCw_12A59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25196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46720" y="4754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responsable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8046720" y="50932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menos, reutilizar y evitar el desperdicio, empezando por la botella y el almuerzo.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 S A R R O L L O   W E 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ciudadanía planetaria se vuelve código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desarrolla software también ejerce ciudadanía planetaria. Estas seis decisiones técnicas tienen efecto directo sobre personas, sobre el ambiente y sobre el derecho a la información.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349240" y="2286000"/>
            <a:ext cx="1600200" cy="329184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25400">
            <a:solidFill>
              <a:srgbClr val="8B7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68112" y="2523744"/>
            <a:ext cx="136245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68112" y="2926080"/>
            <a:ext cx="1362456" cy="685800"/>
          </a:xfrm>
          <a:prstGeom prst="rect">
            <a:avLst/>
          </a:prstGeom>
          <a:solidFill>
            <a:srgbClr val="E7E0F6"/>
          </a:solidFill>
          <a:ln w="12700">
            <a:solidFill>
              <a:srgbClr val="E7E0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68112" y="3749040"/>
            <a:ext cx="1362456" cy="82296"/>
          </a:xfrm>
          <a:prstGeom prst="rect">
            <a:avLst/>
          </a:prstGeom>
          <a:solidFill>
            <a:srgbClr val="D5CDE8"/>
          </a:solidFill>
          <a:ln w="12700">
            <a:solidFill>
              <a:srgbClr val="D5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3950208"/>
            <a:ext cx="1088136" cy="82296"/>
          </a:xfrm>
          <a:prstGeom prst="rect">
            <a:avLst/>
          </a:prstGeom>
          <a:solidFill>
            <a:srgbClr val="D5CDE8"/>
          </a:solidFill>
          <a:ln w="12700">
            <a:solidFill>
              <a:srgbClr val="D5C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68112" y="4151376"/>
            <a:ext cx="813816" cy="82296"/>
          </a:xfrm>
          <a:prstGeom prst="rect">
            <a:avLst/>
          </a:prstGeom>
          <a:solidFill>
            <a:srgbClr val="D5CDE8"/>
          </a:solidFill>
          <a:ln w="12700">
            <a:solidFill>
              <a:srgbClr val="D5C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68112" y="4462272"/>
            <a:ext cx="1362456" cy="219456"/>
          </a:xfrm>
          <a:prstGeom prst="rect">
            <a:avLst/>
          </a:prstGeom>
          <a:solidFill>
            <a:srgbClr val="EFEBF8"/>
          </a:solidFill>
          <a:ln w="12700">
            <a:solidFill>
              <a:srgbClr val="C9C0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8112" y="4736592"/>
            <a:ext cx="1362456" cy="219456"/>
          </a:xfrm>
          <a:prstGeom prst="rect">
            <a:avLst/>
          </a:prstGeom>
          <a:solidFill>
            <a:srgbClr val="EFEBF8"/>
          </a:solidFill>
          <a:ln w="12700">
            <a:solidFill>
              <a:srgbClr val="C9C0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68112" y="5074920"/>
            <a:ext cx="1362456" cy="292608"/>
          </a:xfrm>
          <a:prstGeom prst="roundRect">
            <a:avLst>
              <a:gd name="adj" fmla="val 93750"/>
            </a:avLst>
          </a:prstGeom>
          <a:solidFill>
            <a:srgbClr val="F2653F"/>
          </a:solidFill>
          <a:ln w="12700">
            <a:solidFill>
              <a:srgbClr val="F2653F"/>
            </a:solidFill>
            <a:prstDash val="solid"/>
          </a:ln>
        </p:spPr>
      </p:sp>
      <p:pic>
        <p:nvPicPr>
          <p:cNvPr id="14" name="Image 0" descr="/home/claude/gen/icons/FiEye_7C3A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25880" y="2240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web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325880" y="255117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sitio lo pueda usar una persona con discapacidad: buen contraste y texto alternativo en cada imagen.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2423160"/>
            <a:ext cx="502920" cy="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pic>
        <p:nvPicPr>
          <p:cNvPr id="18" name="Image 1" descr="/home/claude/gen/icons/FiZap_F265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25880" y="3429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livianos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1325880" y="373989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 las imágenes: menos datos, menos energía y menos costo para el usuario.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754880" y="3611880"/>
            <a:ext cx="502920" cy="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pic>
        <p:nvPicPr>
          <p:cNvPr id="22" name="Image 2" descr="/home/claude/gen/icons/FiLock_D6336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177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4617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1325880" y="492861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solo los datos necesarios y guardarlos de forma segura.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754880" y="4800600"/>
            <a:ext cx="502920" cy="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pic>
        <p:nvPicPr>
          <p:cNvPr id="26" name="Image 3" descr="/home/claude/gen/icons/FiShare2_2563E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2402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92440" y="2240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abierto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8092440" y="255117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el código y lo aprendido para que otros no empiecen de cero.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040880" y="2423160"/>
            <a:ext cx="502920" cy="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pic>
        <p:nvPicPr>
          <p:cNvPr id="30" name="Image 4" descr="/home/claude/gen/icons/FiCheckCircle_E0A82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342900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92440" y="3429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veraz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8092440" y="373989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información verificada e indicar la fuente y la fecha de cada dato.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7040880" y="3611880"/>
            <a:ext cx="502920" cy="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pic>
        <p:nvPicPr>
          <p:cNvPr id="34" name="Image 5" descr="/home/claude/gen/icons/FiSmartphone_12A59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461772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092440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brecha digital</a:t>
            </a:r>
            <a:endParaRPr lang="en-US" sz="1550" dirty="0"/>
          </a:p>
        </p:txBody>
      </p:sp>
      <p:sp>
        <p:nvSpPr>
          <p:cNvPr id="36" name="Text 28"/>
          <p:cNvSpPr/>
          <p:nvPr/>
        </p:nvSpPr>
        <p:spPr>
          <a:xfrm>
            <a:off x="8092440" y="492861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sirva con señal lenta: probarlo en un teléfono de gama baja antes de entregarlo.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7040880" y="4800600"/>
            <a:ext cx="502920" cy="0"/>
          </a:xfrm>
          <a:prstGeom prst="line">
            <a:avLst/>
          </a:prstGeom>
          <a:noFill/>
          <a:ln w="19050">
            <a:solidFill>
              <a:srgbClr val="D9D0EC"/>
            </a:solidFill>
            <a:prstDash val="dash"/>
          </a:ln>
        </p:spPr>
      </p:sp>
      <p:sp>
        <p:nvSpPr>
          <p:cNvPr id="38" name="Text 30"/>
          <p:cNvSpPr/>
          <p:nvPr/>
        </p:nvSpPr>
        <p:spPr>
          <a:xfrm>
            <a:off x="868680" y="598932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sitio pesado, sin contraste y que pide datos de más excluye personas aunque el código no tenga un solo error: excluir también es una decisión técnica.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 U C A C I Ó 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para la ciudadanía mundial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propuesta de la UNESCO para que las personas aprendan a convivir y a decidir en un mundo conectado. No es una materia aparte: atraviesa todas las asignaturas y tiene tres dimensiones que van juntas.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251960" y="2834640"/>
            <a:ext cx="4114800" cy="2606040"/>
          </a:xfrm>
          <a:prstGeom prst="triangle">
            <a:avLst/>
          </a:prstGeom>
          <a:solidFill>
            <a:srgbClr val="F0E9FC"/>
          </a:solidFill>
          <a:ln w="19050">
            <a:solidFill>
              <a:srgbClr val="D9C9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237744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377440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C3AED"/>
            </a:solidFill>
            <a:prstDash val="solid"/>
          </a:ln>
        </p:spPr>
      </p:sp>
      <p:pic>
        <p:nvPicPr>
          <p:cNvPr id="8" name="Image 0" descr="/home/claude/gen/icons/FiBook_7C3A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6151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040880" y="27432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cognitiva: conocer cómo funciona el mundo, sus problemas y sus acuerdos. Por ejemplo, qué son los ODS y quién los aprobó.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94760" y="498348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94760" y="4983480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F2653F"/>
            </a:solidFill>
            <a:prstDash val="solid"/>
          </a:ln>
        </p:spPr>
      </p:sp>
      <p:pic>
        <p:nvPicPr>
          <p:cNvPr id="13" name="Image 1" descr="/home/claude/gen/icons/FiHeart_F265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4" y="52212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4937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68680" y="5303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socioemocional: pertenencia, empatía y respeto por la diversidad humana.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909560" y="498348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909560" y="4983480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12A594"/>
            </a:solidFill>
            <a:prstDash val="solid"/>
          </a:ln>
        </p:spPr>
      </p:sp>
      <p:pic>
        <p:nvPicPr>
          <p:cNvPr id="18" name="Image 2" descr="/home/claude/gen/icons/FiPlay_12A59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52212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4937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006840" y="5303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conductual: participar de forma responsable en lo local y en lo mundial.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603504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sin actuar se queda en teoría; actuar sin saber lleva a repetir errores. En el colegio técnico se ejerce en los proyectos, las ferias y el gobierno estudiantil.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6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L A C I Ó N   E N T R E   S I S T E M A 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67665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ONU hasta la casa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3167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sistemas se conectan en cadena y en dos direcciones: lo que se acuerda en el mundo baja hasta el cantón, y una experiencia local que funciona puede subir como ejemplo a foros mundiales.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468755" y="249174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8755" y="249174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7C3AED"/>
            </a:solidFill>
            <a:prstDash val="solid"/>
          </a:ln>
        </p:spPr>
      </p:sp>
      <p:pic>
        <p:nvPicPr>
          <p:cNvPr id="7" name="Image 0" descr="/home/claude/gen/icons/FiGlobe_7C3A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079" y="2798064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5855" y="22860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2343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ONU aprueba una meta mundial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457200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países acuerdan, por ejemplo, mejorar el manejo de los residuos.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66694" y="3063240"/>
            <a:ext cx="256032" cy="0"/>
          </a:xfrm>
          <a:prstGeom prst="line">
            <a:avLst/>
          </a:prstGeom>
          <a:noFill/>
          <a:ln w="25400">
            <a:solidFill>
              <a:srgbClr val="B7A9D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177665" y="249174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77665" y="249174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2563EB"/>
            </a:solidFill>
            <a:prstDash val="solid"/>
          </a:ln>
        </p:spPr>
      </p:sp>
      <p:pic>
        <p:nvPicPr>
          <p:cNvPr id="14" name="Image 1" descr="/home/claude/gen/icons/FiFlag_2563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989" y="2798064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34765" y="22860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77590" y="3840480"/>
            <a:ext cx="2343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 firma y la Asamblea aprueba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577590" y="457200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 se convierte en ley o en política pública nacional.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75604" y="3063240"/>
            <a:ext cx="256032" cy="0"/>
          </a:xfrm>
          <a:prstGeom prst="line">
            <a:avLst/>
          </a:prstGeom>
          <a:noFill/>
          <a:ln w="25400">
            <a:solidFill>
              <a:srgbClr val="B7A9D8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886575" y="249174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86575" y="249174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12A594"/>
            </a:solidFill>
            <a:prstDash val="solid"/>
          </a:ln>
        </p:spPr>
      </p:sp>
      <p:pic>
        <p:nvPicPr>
          <p:cNvPr id="21" name="Image 2" descr="/home/claude/gen/icons/FiMapPin_12A59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899" y="2798064"/>
            <a:ext cx="530352" cy="5303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43675" y="22860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86500" y="3840480"/>
            <a:ext cx="2343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municipalidad lo ejecuta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286500" y="457200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la recolección del reciclaje y avisa el día en el cantón.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684514" y="3063240"/>
            <a:ext cx="256032" cy="0"/>
          </a:xfrm>
          <a:prstGeom prst="line">
            <a:avLst/>
          </a:prstGeom>
          <a:noFill/>
          <a:ln w="25400">
            <a:solidFill>
              <a:srgbClr val="B7A9D8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595485" y="2491740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595485" y="2491740"/>
            <a:ext cx="1143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E0A82E"/>
            </a:solidFill>
            <a:prstDash val="solid"/>
          </a:ln>
        </p:spPr>
      </p:sp>
      <p:pic>
        <p:nvPicPr>
          <p:cNvPr id="28" name="Image 3" descr="/home/claude/gen/icons/FiHome_E0A82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1809" y="2798064"/>
            <a:ext cx="530352" cy="5303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52585" y="22860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995410" y="3840480"/>
            <a:ext cx="2343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separa los residuos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8995410" y="457200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se cierra la cadena que empezó en el nivel mundial.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68680" y="580644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eslabón falla, la cadena se corta: un acuerdo firmado y nunca aprobado se queda en el papel. Ningún acuerdo mundial cambia algo por sí solo.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Í N T E S I S   Y   C I E R R 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96012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ciudadano planetario no es quien más sabe del mundo,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quien actúa sabiendo que sus decisiones alcanzan a otros.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237744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7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R E S   I D E A S   P A R A   N O   O L V I D A 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321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Ciudadanía planetaria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3072384"/>
            <a:ext cx="321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Pertenecer a la comunidad humana sin dejar de ser costarricense: pensar global y actuar local.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95800" y="2743200"/>
            <a:ext cx="321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en tres niveles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495800" y="3072384"/>
            <a:ext cx="321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mundial propone, lo nacional aprueba y lo local ejecuta. La persona participa en los tres.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2920" y="2743200"/>
            <a:ext cx="321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y responsabilidades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122920" y="3072384"/>
            <a:ext cx="321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derechos internacionales se cumplen adentro; cada derecho trae una responsabilidad diaria.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B7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U A T R O   P R E G U N T A S   P A R A   R E V I S A R   C U A L Q U I E R   P R O Y E C T 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443984"/>
            <a:ext cx="438912" cy="438912"/>
          </a:xfrm>
          <a:prstGeom prst="ellipse">
            <a:avLst/>
          </a:prstGeom>
          <a:solidFill>
            <a:srgbClr val="3E2A66"/>
          </a:solidFill>
          <a:ln w="12700">
            <a:solidFill>
              <a:srgbClr val="3E2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9884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0472" y="4480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explicar qué es un ciudadano planetario?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4443984"/>
            <a:ext cx="438912" cy="438912"/>
          </a:xfrm>
          <a:prstGeom prst="ellipse">
            <a:avLst/>
          </a:prstGeom>
          <a:solidFill>
            <a:srgbClr val="3E2A66"/>
          </a:solidFill>
          <a:ln w="12700">
            <a:solidFill>
              <a:srgbClr val="3E2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449884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4480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¿Sé qué se decide en la municipalidad, qué en el país y qué en la ONU?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5221224"/>
            <a:ext cx="438912" cy="438912"/>
          </a:xfrm>
          <a:prstGeom prst="ellipse">
            <a:avLst/>
          </a:prstGeom>
          <a:solidFill>
            <a:srgbClr val="3E2A66"/>
          </a:solidFill>
          <a:ln w="12700">
            <a:solidFill>
              <a:srgbClr val="3E2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27608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90472" y="5257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¿Estoy cuidando los datos y la información de las personas?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5221224"/>
            <a:ext cx="438912" cy="438912"/>
          </a:xfrm>
          <a:prstGeom prst="ellipse">
            <a:avLst/>
          </a:prstGeom>
          <a:solidFill>
            <a:srgbClr val="3E2A66"/>
          </a:solidFill>
          <a:ln w="12700">
            <a:solidFill>
              <a:srgbClr val="3E2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527608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93992" y="5257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acción concreta puedo hacer este mes en mi colegio?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Análisis de casos          Práctica 2 · Taller de investigación y resolución de problemas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2026-08-17T21:42:12Z</dcterms:created>
  <dcterms:modified xsi:type="dcterms:W3CDTF">2026-08-17T21:42:12Z</dcterms:modified>
</cp:coreProperties>
</file>