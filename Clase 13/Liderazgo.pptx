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Preguntar de entrada: ¿quién ha tenido un jefe, entrenador o compañero que todos siguen con gusto? ¿Y uno que nadie soporta? De eso trata la clase.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los tres indicadores de logro de la sesión.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los tres conceptos del indicador: liderazgo, éxito y democracia. Preguntar por ejemplos de líderes sin puesto formal que conozcan.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transversal: el líder de un equipo que desarrolla el sitio web de un cliente cumple las seis funciones en una sola semana de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que piensen en una persona de influencia real en su vida (sin decir el nombre) y verifiquen cuántas de las cinco cumple.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 que "centralista" también se conoce como autocrático o autoritario. Preguntar en qué situaciones de la vida real han visto cada tipo.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Leer los tres en voz alta con actuación. Preguntar: ¿en cuál equipo les gustaría trabajar? ¿En cuál han estado?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un ejemplo propio por cada contexto. Esta lámina prepara directamente la Práctica 2 de análisis de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Proyectar el video (buscar el título en YouTube si el enlace cambia). Revisar duración previamente; se puede proyectar un fragmento si el tiempo aprieta.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Repartir los documentos de prácticas. La 3 requiere formar grupos 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114800" cy="411480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920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Liderazgo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822960" y="32918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casos de la vida cotidiana que motivan la aplicación de un liderazgo democrático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22960" y="5394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Web  ·  Undécimo año  ·  Educar para una nueva ciudadanía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vamos a lograr hoy?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4" name="Shape 2"/>
          <p:cNvSpPr/>
          <p:nvPr/>
        </p:nvSpPr>
        <p:spPr>
          <a:xfrm>
            <a:off x="960120" y="19202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78308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conceptos de liderazgo, éxito y democracia.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32461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8" name="Shape 5"/>
          <p:cNvSpPr/>
          <p:nvPr/>
        </p:nvSpPr>
        <p:spPr>
          <a:xfrm>
            <a:off x="960120" y="35204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7033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338328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de un liderazgo exitoso y las características de las personas de influencia.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40080" y="48463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F4F7FD"/>
          </a:solidFill>
          <a:ln/>
        </p:spPr>
      </p:sp>
      <p:sp>
        <p:nvSpPr>
          <p:cNvPr id="12" name="Shape 8"/>
          <p:cNvSpPr/>
          <p:nvPr/>
        </p:nvSpPr>
        <p:spPr>
          <a:xfrm>
            <a:off x="960120" y="51206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53035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11680" y="4983480"/>
            <a:ext cx="9235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alternativas de liderazgo democrático en contextos cotidianos: la clase, el equipo de desarrollo, la comunidad.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el liderazgo?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capacidad de influir en un grupo de personas para alcanzar metas comunes, motivándolas y guiándolas sin necesidad de imponer.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26974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8803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6118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Liderazgo y éxito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60120" y="43891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liderazgo exitoso no se mide solo por lograr la meta, sino por cómo se logra: con el equipo motivado, participando y creciendo. El éxito es del grupo, no solo del líder.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16552" y="23774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736592" y="26974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28803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36592" y="36118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Liderazgo y democracia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4736592" y="43891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democracia el poder viene de las personas. Un líder democrático escucha, consulta y hace que cada voz cuente antes de decidir, igual que en una sociedad democrática.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93024" y="237744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4F7FD"/>
          </a:solidFill>
          <a:ln/>
        </p:spPr>
      </p:sp>
      <p:sp>
        <p:nvSpPr>
          <p:cNvPr id="15" name="Shape 11"/>
          <p:cNvSpPr/>
          <p:nvPr/>
        </p:nvSpPr>
        <p:spPr>
          <a:xfrm>
            <a:off x="8513064" y="269748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4" y="28803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13064" y="36118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Líder no es lo mismo que jefe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513064" y="43891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jefe manda por su puesto; el líder influye aunque no tenga puesto. En un equipo de desarrollo, el líder puede ser quien mejor escucha, no quien más sabe.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Funciones de un líder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7556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Guiar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14400" y="2423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Marcar el rumbo y mantener al equipo enfocado en la meta común.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416552" y="1554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82880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9512" y="17556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Comunicar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690872" y="2423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Transmitir ideas con claridad y asegurarse de que todos entienden.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193024" y="15544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18288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15984" y="17556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Motivar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8467344" y="24231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el esfuerzo y mantener el ánimo, incluso cuando algo sale mal.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40690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4F7F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4340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270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Decidir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914400" y="4937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decisiones oportunas considerando la información y las opiniones del grupo.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4416552" y="40690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4F7FD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34340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239512" y="4270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Delegar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4690872" y="4937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Repartir tareas según las fortalezas de cada persona y confiar en su trabajo.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8193024" y="4069080"/>
            <a:ext cx="3520440" cy="2286000"/>
          </a:xfrm>
          <a:prstGeom prst="roundRect">
            <a:avLst>
              <a:gd name="adj" fmla="val 4800"/>
            </a:avLst>
          </a:prstGeom>
          <a:solidFill>
            <a:srgbClr val="F4F7FD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434340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015984" y="4270248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Resolver conflictos</a:t>
            </a:r>
            <a:endParaRPr lang="en-US" sz="1700" dirty="0"/>
          </a:p>
        </p:txBody>
      </p:sp>
      <p:sp>
        <p:nvSpPr>
          <p:cNvPr id="26" name="Text 18"/>
          <p:cNvSpPr/>
          <p:nvPr/>
        </p:nvSpPr>
        <p:spPr>
          <a:xfrm>
            <a:off x="8467344" y="49377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Mediar en los desacuerdos buscando soluciones justas para todas las partes.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de las personas de influencia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seguimos a ciertas personas aunque no tengan ningún cargo? Porque muestran estas cualidades: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408176" y="274320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2926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7033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Coherencia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960120" y="420624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lo que dice. Su ejemplo vale más que sus palabras.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999232" y="246888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3584448" y="274320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7328" y="2926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44952" y="37033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Escucha activa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136392" y="420624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 atención genuina antes de opinar o decidir.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175504" y="246888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5760720" y="274320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9260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21224" y="37033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Empatía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5312664" y="420624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Entiende cómo se sienten los demás y lo toma en cuenta.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351776" y="246888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7936992" y="274320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2" y="29260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97496" y="37033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488936" y="420624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Asume sus errores en lugar de culpar al equipo.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9528048" y="2468880"/>
            <a:ext cx="1993392" cy="32918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10113264" y="2743200"/>
            <a:ext cx="822960" cy="822960"/>
          </a:xfrm>
          <a:prstGeom prst="ellipse">
            <a:avLst/>
          </a:prstGeom>
          <a:solidFill>
            <a:srgbClr val="F4F7F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292608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573768" y="370332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Credibilidad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9665208" y="4206240"/>
            <a:ext cx="171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gana la confianza con hechos, honestidad y constancia.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liderazgo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990088"/>
                <a:gridCol w="2990088"/>
                <a:gridCol w="298094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Centralista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Democrático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¿Quién decide?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líder solo; no consulta.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líder pregunta opiniones, pero decide solo.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grupo participa en la decisión (consenso o votación).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 del equipo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Obedecer instrucciones.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Opinar cuando se le pide.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Proponer, debatir y decidir en conjunto.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Comunicación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arriba hacia abajo.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dos vías, pero limitada.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Abierta y en todas direcciones.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¿Cuándo funciona?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Emergencias que exigen decisiones inmediatas.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Cuando el líder tiene más experiencia pero quiere insumos.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Proyectos en equipo donde el compromiso de todos importa.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principal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Desmotivación; el equipo no se compromete.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equipo siente que opinar "no sirve de nada".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Puede ser lento si no se organiza bien.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columna verde no es casualidad: el programa nos invita a practicar el liderazgo democrático, sin olvidar que cada tipo tiene su momento.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mismo problema, tres líderes distintos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un equipo de 4 estudiantes debe elegir el diseño de la página de inicio del sitio web de un cliente. Hay dos propuestas y el grupo está dividido.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BEBE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3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Líder centralista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usa mi propuesta y punto. Yo soy el coordinador."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la decisión fue rápida, pero dos integrantes dejan de aportar ideas el resto del proyecto.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16552" y="210312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FF6E5"/>
          </a:solidFill>
          <a:ln/>
        </p:spPr>
      </p:sp>
      <p:sp>
        <p:nvSpPr>
          <p:cNvPr id="9" name="Text 7"/>
          <p:cNvSpPr/>
          <p:nvPr/>
        </p:nvSpPr>
        <p:spPr>
          <a:xfrm>
            <a:off x="4690872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A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Líder consultor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90872" y="29260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"Cuéntenme qué le ven de bueno a cada diseño... gracias, ya con eso decido yo."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90872" y="45720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hay algo de participación, pero la última palabra siempre es del líder y el equipo lo nota.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93024" y="210312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EAF3EC"/>
          </a:solidFill>
          <a:ln/>
        </p:spPr>
      </p:sp>
      <p:sp>
        <p:nvSpPr>
          <p:cNvPr id="13" name="Text 11"/>
          <p:cNvSpPr/>
          <p:nvPr/>
        </p:nvSpPr>
        <p:spPr>
          <a:xfrm>
            <a:off x="8467344" y="23317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Líder democrático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467344" y="292608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"Cada quien defiende su propuesta 2 minutos, definimos criterios (cliente, tiempo, dificultad) y votamos."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67344" y="45720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tomó 15 minutos más, pero todos se comprometieron con el diseño ganador como propio.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Liderazgo democrático en la vida cotidiana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hace falta un cargo para liderar democráticamente. Se practica todos los días: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225856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2199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el equipo de desarrollo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en conjunto la paleta de colores, repartir tareas según fortalezas, hacer revisiones de código donde toda opinión cuenta.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196596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F4F7FD"/>
          </a:solidFill>
          <a:ln/>
        </p:spPr>
      </p:sp>
      <p:sp>
        <p:nvSpPr>
          <p:cNvPr id="10" name="Shape 7"/>
          <p:cNvSpPr/>
          <p:nvPr/>
        </p:nvSpPr>
        <p:spPr>
          <a:xfrm>
            <a:off x="6601968" y="225856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423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222199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el aula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6629400" y="30175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un trabajo grupal escuchando a todos, elegir el tema del proyecto por votación, mediar cuando dos compañeros chocan.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0624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F4F7FD"/>
          </a:solidFill>
          <a:ln/>
        </p:spPr>
      </p:sp>
      <p:sp>
        <p:nvSpPr>
          <p:cNvPr id="15" name="Shape 11"/>
          <p:cNvSpPr/>
          <p:nvPr/>
        </p:nvSpPr>
        <p:spPr>
          <a:xfrm>
            <a:off x="932688" y="449884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6634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46227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familia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960120" y="52578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Acordar entre todos la distribución de tareas de la casa o el destino del paseo familiar, en lugar de que decida siempre la misma persona.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09360" y="4206240"/>
            <a:ext cx="5257800" cy="2011680"/>
          </a:xfrm>
          <a:prstGeom prst="roundRect">
            <a:avLst>
              <a:gd name="adj" fmla="val 5455"/>
            </a:avLst>
          </a:prstGeom>
          <a:solidFill>
            <a:srgbClr val="F4F7FD"/>
          </a:solidFill>
          <a:ln/>
        </p:spPr>
      </p:sp>
      <p:sp>
        <p:nvSpPr>
          <p:cNvPr id="20" name="Shape 15"/>
          <p:cNvSpPr/>
          <p:nvPr/>
        </p:nvSpPr>
        <p:spPr>
          <a:xfrm>
            <a:off x="6601968" y="449884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6634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52360" y="4462272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 comunidad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6629400" y="52578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Participar en la junta o el comité del barrio, proponer ideas para una actividad comunal y someterlas a decisión del grupo.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840480" cy="384048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Veamos a una líder en acción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822960" y="283464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"Liderazgo que inspira"</a:t>
            </a:r>
            <a:endParaRPr lang="en-US" sz="22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Marisa Lazo — TEDx Universidad Panamericana Guadalajara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youtube.com/watch?v=kuC1HC3HFZA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4572000"/>
            <a:ext cx="10515600" cy="1645920"/>
          </a:xfrm>
          <a:prstGeom prst="roundRect">
            <a:avLst>
              <a:gd name="adj" fmla="val 6667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1143000" y="480060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Mientras ven el video, observen: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características de las personas de influencia menciona o demuestra la expositora?   ·   ¿Qué tiene de "democrático" su forma de liderar?   Anoten: lo necesitan para la Práctica 1.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645920"/>
            <a:ext cx="4389120" cy="438912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Manos a la obra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prácticas formativas (sin puntaje) para aplicar lo aprendido: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487168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48716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11680" y="237744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del video TEDx  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las características de influencia y lo democrático del liderazgo de la expositora.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3813048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8130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011680" y="370332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casos  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el tipo de liderazgo en tres casos cotidianos y proponer la alternativa democrática.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493776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5138928"/>
            <a:ext cx="694944" cy="69494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1389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011680" y="5029200"/>
            <a:ext cx="9052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decide   </a:t>
            </a:r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grupos: tomar una decisión real de proyecto web con un líder democrático y coevaluar la dinámica.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9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Recuerden: estas prácticas no tienen puntaje. El objetivo es practicar el liderazgo democrático, no la nota.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2026-07-20T22:03:43Z</dcterms:created>
  <dcterms:modified xsi:type="dcterms:W3CDTF">2026-07-20T22:03:43Z</dcterms:modified>
</cp:coreProperties>
</file>