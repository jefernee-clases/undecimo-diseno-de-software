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5" r:id="rId4"/>
    <p:sldId id="266" r:id="rId5"/>
    <p:sldId id="257" r:id="rId6"/>
    <p:sldId id="258" r:id="rId7"/>
    <p:sldId id="259" r:id="rId8"/>
    <p:sldId id="260" r:id="rId9"/>
    <p:sldId id="261" r:id="rId10"/>
    <p:sldId id="263" r:id="rId11"/>
    <p:sldId id="26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yefruizg04@gmail.com" userId="ca9b7addc9fe5d07" providerId="LiveId" clId="{FFEFFAFB-E068-45B8-863C-9A8B43FEC7A9}"/>
    <pc:docChg chg="addSld modSld">
      <pc:chgData name="antoyefruizg04@gmail.com" userId="ca9b7addc9fe5d07" providerId="LiveId" clId="{FFEFFAFB-E068-45B8-863C-9A8B43FEC7A9}" dt="2026-03-09T22:07:10.867" v="3"/>
      <pc:docMkLst>
        <pc:docMk/>
      </pc:docMkLst>
      <pc:sldChg chg="add setBg">
        <pc:chgData name="antoyefruizg04@gmail.com" userId="ca9b7addc9fe5d07" providerId="LiveId" clId="{FFEFFAFB-E068-45B8-863C-9A8B43FEC7A9}" dt="2026-03-09T22:03:24.468" v="0"/>
        <pc:sldMkLst>
          <pc:docMk/>
          <pc:sldMk cId="0" sldId="263"/>
        </pc:sldMkLst>
      </pc:sldChg>
      <pc:sldChg chg="add setBg">
        <pc:chgData name="antoyefruizg04@gmail.com" userId="ca9b7addc9fe5d07" providerId="LiveId" clId="{FFEFFAFB-E068-45B8-863C-9A8B43FEC7A9}" dt="2026-03-09T22:04:27.940" v="1"/>
        <pc:sldMkLst>
          <pc:docMk/>
          <pc:sldMk cId="0" sldId="264"/>
        </pc:sldMkLst>
      </pc:sldChg>
      <pc:sldChg chg="add setBg">
        <pc:chgData name="antoyefruizg04@gmail.com" userId="ca9b7addc9fe5d07" providerId="LiveId" clId="{FFEFFAFB-E068-45B8-863C-9A8B43FEC7A9}" dt="2026-03-09T22:06:08.793" v="2"/>
        <pc:sldMkLst>
          <pc:docMk/>
          <pc:sldMk cId="0" sldId="265"/>
        </pc:sldMkLst>
      </pc:sldChg>
      <pc:sldChg chg="add setBg">
        <pc:chgData name="antoyefruizg04@gmail.com" userId="ca9b7addc9fe5d07" providerId="LiveId" clId="{FFEFFAFB-E068-45B8-863C-9A8B43FEC7A9}" dt="2026-03-09T22:07:10.867" v="3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61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320040" cy="50337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8046720" cy="3108960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14B8A6"/>
                </a:solidFill>
              </a:rPr>
              <a:t>DISEÑO DE SOFTWARE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Diseño en el Nivel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de Componentes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4B8A6"/>
                </a:solidFill>
              </a:rPr>
              <a:t>Conceptos Fundamentales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11° Año  |  Diseño de Software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460"/>
                </a:solidFill>
              </a:rPr>
              <a:t>Tres Perspectivas de un Componente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Según Pressman, un componente puede verse desde tres ángulos distintos: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64008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234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Visión OO (Orientada a Objetos)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544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3460"/>
                </a:solidFill>
              </a:rPr>
              <a:t>Un componente contiene un conjunto de clases colaborativas. Cada clase tiene sus atributos y métodos bien definidos.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8321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77440"/>
            <a:ext cx="64008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774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2468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Visión Tradicional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7889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3460"/>
                </a:solidFill>
              </a:rPr>
              <a:t>Un componente es un elemento funcional del programa: módulos, funciones y procedimientos agrupados por su lógica.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8321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611880"/>
            <a:ext cx="640080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1188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3703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Visión del Proceso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0233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3460"/>
                </a:solidFill>
              </a:rPr>
              <a:t>Un componente puede ser reutilizado desde una librería. Se selecciona, adapta e integra al nuevo sistema.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460"/>
                </a:solidFill>
              </a:rPr>
              <a:t>¿Qué es un Componente?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686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Un componente es un bloque de construcción modular de software con una interfaz bien definida que oculta su implementación interna.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26517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011680"/>
            <a:ext cx="265176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01168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Encapsulamiento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2606040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3460"/>
                </a:solidFill>
              </a:rPr>
              <a:t>Oculta sus detalles internos y expone solo lo necesario.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011680"/>
            <a:ext cx="26517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011680"/>
            <a:ext cx="265176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01168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Interfaz definida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606040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3460"/>
                </a:solidFill>
              </a:rPr>
              <a:t>Se comunica con otros componentes a través de contratos claros.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26517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011680"/>
            <a:ext cx="265176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201168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♻️ Reusabilidad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0488" y="2606040"/>
            <a:ext cx="2432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3460"/>
                </a:solidFill>
              </a:rPr>
              <a:t>Puede ser utilizado en distintos sistemas o contextos.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</a:rPr>
              <a:t>Cohesión y Acoplamiento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675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Dos conceptos clave para evaluar la calidad de un componente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31920" cy="3657600"/>
          </a:xfrm>
          <a:prstGeom prst="rect">
            <a:avLst/>
          </a:prstGeom>
          <a:solidFill>
            <a:srgbClr val="0F3460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3931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 COHESIÓN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¿Qué tan enfocado está el componente en UNA sola responsabilidad?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ALTA cohesión  =  Bueno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El componente hace una sola cosa y la hace bien.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BAJA cohesión  =  Malo 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El componente mezcla responsabilidades distintas y es difícil de mantener.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3931920" cy="3657600"/>
          </a:xfrm>
          <a:prstGeom prst="rect">
            <a:avLst/>
          </a:prstGeom>
          <a:solidFill>
            <a:srgbClr val="0F346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97280"/>
            <a:ext cx="3931920" cy="548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97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⚠️  ACOPLAMIENTO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</a:rPr>
              <a:t>¿Qué tan dependiente es el componente de otros componentes?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286000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BAJO acoplamiento  =  Bueno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Componentes independientes, fáciles de cambiar.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ALTO acoplamiento  =  Malo 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Un cambio en un componente rompe otros. Sistema frágil.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460"/>
                </a:solidFill>
              </a:rPr>
              <a:t>¿Qué es un componente?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7772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Es un bloque de software que tiene una función clara, una interfaz definida y oculta cómo hace su trabajo.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Ejemplo: componente para calcular el promedio de notas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8321040" cy="2606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148840"/>
            <a:ext cx="7955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calcular_promedio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(notas):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Interfaz: recibe una lista de notas (números)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Retorna: el promedio como número decimal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Implementación oculta para quien usa el componente
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</a:t>
            </a: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(notas)
</a:t>
            </a: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/ </a:t>
            </a: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Quien usa este componente solo necesita saber: qué le mando y qué me devuelve. No importa cómo lo calcula.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460"/>
                </a:solidFill>
              </a:rPr>
              <a:t>Encapsulamiento — Código Malo vs. Código Bueno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¿Qué pasa cuando NO hay encapsulamiento?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2296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MALO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99032"/>
            <a:ext cx="3931920" cy="3383280"/>
          </a:xfrm>
          <a:prstGeom prst="rect">
            <a:avLst/>
          </a:prstGeom>
          <a:solidFill>
            <a:srgbClr val="1E1E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Código esparcido por todo el programa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alumno_nombre = 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"Juan"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alumno_nota1 = 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alumno_nota2 = 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
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Cálculo mezclado con todo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(alumno_nota1
           + alumno_nota2) / 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
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Alguien puede cambiar las
# notas desde cualquier lugar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alumno_nota1 = 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 </a:t>
            </a:r>
            <a:r>
              <a:rPr lang="en-US" sz="1100" dirty="0">
                <a:solidFill>
                  <a:srgbClr val="F44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¡peligroso!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86868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7899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BUENO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399032"/>
            <a:ext cx="3931920" cy="3383280"/>
          </a:xfrm>
          <a:prstGeom prst="rect">
            <a:avLst/>
          </a:prstGeom>
          <a:solidFill>
            <a:srgbClr val="1E1E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6304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nombre):
    self.nombre = nombre
    self.__notas = []  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privado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agregar_nota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nota):
    self.__notas.append(nota)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(self.__notas) /
           len(self.__notas)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460"/>
                </a:solidFill>
              </a:rPr>
              <a:t>Cohesión — Un componente, una responsabilidad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Alta cohesión = cada componente hace UNA sola cosa y la hace bien.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2296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MALO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99032"/>
            <a:ext cx="3931920" cy="3383280"/>
          </a:xfrm>
          <a:prstGeom prst="rect">
            <a:avLst/>
          </a:prstGeom>
          <a:solidFill>
            <a:srgbClr val="1E1E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Este componente hace DEMASIADO
</a:t>
            </a:r>
            <a:r>
              <a:rPr lang="en-US" sz="11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gestionar_alumno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(datos):
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Valida datos
  # Guarda en base de datos
  # Calcula el promedio
  # Envía correo al padre
  # Genera reporte PDF
  # Imprime en pantalla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  </a:t>
            </a:r>
            <a:r>
              <a:rPr lang="en-US" sz="1100" dirty="0">
                <a:solidFill>
                  <a:srgbClr val="F44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¡todo mezclado!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86868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7899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BUENO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399032"/>
            <a:ext cx="3931920" cy="3383280"/>
          </a:xfrm>
          <a:prstGeom prst="rect">
            <a:avLst/>
          </a:prstGeom>
          <a:solidFill>
            <a:srgbClr val="1E1E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6304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función hace UNA cosa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validar_datos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(datos): ...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guardar_alumno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(alumno): ...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calcular_promedio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(notas): ...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enviar_correo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(destinatario): ...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generar_reporte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(datos): ...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460"/>
                </a:solidFill>
              </a:rPr>
              <a:t>Acoplamiento — ¿Qué tan dependientes son entre sí?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Bajo acoplamiento = los componentes no dependen unos de otros innecesariamente.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2296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MALO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99032"/>
            <a:ext cx="3931920" cy="3383280"/>
          </a:xfrm>
          <a:prstGeom prst="rect">
            <a:avLst/>
          </a:prstGeom>
          <a:solidFill>
            <a:srgbClr val="1E1E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generar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
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Accede directo a BD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bd = BaseDatos()
    bd.conectar(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"localhost"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    datos = bd.sql(
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"SELECT * FROM alumnos")
</a:t>
            </a:r>
            <a:r>
              <a:rPr lang="en-US" sz="1100" dirty="0">
                <a:solidFill>
                  <a:srgbClr val="F44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Si cambia la BD,
    # ¡este código se rompe!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86868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7899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BUENO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399032"/>
            <a:ext cx="3931920" cy="3383280"/>
          </a:xfrm>
          <a:prstGeom prst="rect">
            <a:avLst/>
          </a:prstGeom>
          <a:solidFill>
            <a:srgbClr val="1E1E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6304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repositorio):
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Recibe los datos ya listos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self.repo = repositorio
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generar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
    datos = self.repo
           .obtener_alumnos()
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Si cambia la BD,
    # ¡este código NO cambia!
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</a:rPr>
              <a:t>Tres formas de ver un componente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Según Pressman, un componente puede verse desde tres perspectivas: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2651760" cy="3657600"/>
          </a:xfrm>
          <a:prstGeom prst="rect">
            <a:avLst/>
          </a:prstGeom>
          <a:solidFill>
            <a:srgbClr val="16213E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78992"/>
            <a:ext cx="2651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78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Orientada a Objetos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2468880" cy="21031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673352"/>
            <a:ext cx="23225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  nombre: str
  notas: list
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promedio(): 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78992"/>
            <a:ext cx="2651760" cy="3657600"/>
          </a:xfrm>
          <a:prstGeom prst="rect">
            <a:avLst/>
          </a:prstGeom>
          <a:solidFill>
            <a:srgbClr val="16213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78992"/>
            <a:ext cx="26517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78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Tradicional (funcional)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627632"/>
            <a:ext cx="2468880" cy="21031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673352"/>
            <a:ext cx="23225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Módulo de notas
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calcular_promedio(): ...
def registrar_nota(): ...
def buscar_alumno(): 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078992"/>
            <a:ext cx="2651760" cy="3657600"/>
          </a:xfrm>
          <a:prstGeom prst="rect">
            <a:avLst/>
          </a:prstGeom>
          <a:solidFill>
            <a:srgbClr val="16213E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78992"/>
            <a:ext cx="26517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078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Del proceso (reutilizable)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627632"/>
            <a:ext cx="2468880" cy="21031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1673352"/>
            <a:ext cx="23225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Librería ya hecha
</a:t>
            </a: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modulo_notas
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Solo la usamos
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modulo_notas.calcular()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460"/>
                </a:solidFill>
              </a:rPr>
              <a:t>¿Por qué es importante diseñar bien los componentes?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🛠️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Mantenibilidad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78308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</a:rPr>
              <a:t>Un componente bien diseñado puede corregirse y mejorarse sin afectar el resto del sistema.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Reutilización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78308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</a:rPr>
              <a:t>Evita reescribir código. Un componente creado hoy puede usarse en 5 proyectos futuros.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8686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7220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Testabilidad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0488" y="178308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</a:rPr>
              <a:t>Componentes con responsabilidad clara son más fáciles de probar de forma aislada.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Trabajo en equipo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" y="374904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</a:rPr>
              <a:t>Diferentes desarrolladores pueden trabajar en distintos componentes al mismo tiempo.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33756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Escalabilidad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374904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</a:rPr>
              <a:t>Un sistema bien componentizado puede crecer sin volverse caótico ni inmanejable.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7220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Ahorro de tiempo/costo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0488" y="374904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</a:rPr>
              <a:t>Menos errores, menos retrabajo. El buen diseño inicial ahorra muchas horas después.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28600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</a:rPr>
              <a:t>Lo que aprendimos hoy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832104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14400"/>
            <a:ext cx="6858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Componente: 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100584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Bloque modular con interfaz clara e implementación oculta.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709928"/>
            <a:ext cx="832104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709928"/>
            <a:ext cx="6858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099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1801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Encapsulamiento: 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801368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Los detalles internos no deben ser accesibles desde afuera.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505456"/>
            <a:ext cx="832104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505456"/>
            <a:ext cx="6858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054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25968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Alta cohesión: 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2596896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Cada componente hace UNA sola cosa y la hace bien.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300984"/>
            <a:ext cx="832104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300984"/>
            <a:ext cx="6858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30098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339242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Bajo acoplamiento: 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06040" y="3392424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Los componentes deben depender lo menos posible entre sí.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4096512"/>
            <a:ext cx="832104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096512"/>
            <a:ext cx="6858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96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88720" y="41879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3 visiones:  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06040" y="4187952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OO (clases), Tradicional (funciones), Proceso (librerías).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8646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</a:rPr>
              <a:t>Próxima clase: Visión Orientada a Objetos en profundidad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1165</Words>
  <Application>Microsoft Office PowerPoint</Application>
  <PresentationFormat>Presentación en pantalla (16:9)</PresentationFormat>
  <Paragraphs>118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en el Nivel de Componentes</dc:title>
  <dc:subject>PptxGenJS Presentation</dc:subject>
  <dc:creator>PptxGenJS</dc:creator>
  <cp:lastModifiedBy>antoyefruizg04@gmail.com</cp:lastModifiedBy>
  <cp:revision>1</cp:revision>
  <dcterms:created xsi:type="dcterms:W3CDTF">2026-03-09T17:56:56Z</dcterms:created>
  <dcterms:modified xsi:type="dcterms:W3CDTF">2026-03-09T22:07:43Z</dcterms:modified>
</cp:coreProperties>
</file>